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52560" y="731520"/>
            <a:ext cx="2194560" cy="2194560"/>
          </a:xfrm>
          <a:prstGeom prst="ellipse">
            <a:avLst/>
          </a:prstGeom>
          <a:solidFill>
            <a:srgbClr val="18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75520" y="3474720"/>
            <a:ext cx="1188720" cy="1188720"/>
          </a:xfrm>
          <a:prstGeom prst="ellipse">
            <a:avLst/>
          </a:prstGeom>
          <a:solidFill>
            <a:srgbClr val="1F31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138160" y="4480560"/>
            <a:ext cx="502920" cy="502920"/>
          </a:xfrm>
          <a:prstGeom prst="ellipse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71323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200" b="1">
                <a:solidFill>
                  <a:srgbClr val="40D3D2"/>
                </a:solidFill>
                <a:latin typeface="Aptos"/>
              </a:rPr>
              <a:t>CAPSTONE PROJECT  /  QUALITY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589520" cy="14173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E2E Test
Automation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474720"/>
            <a:ext cx="66751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900" b="0">
                <a:solidFill>
                  <a:srgbClr val="AFBED2"/>
                </a:solidFill>
                <a:latin typeface="Aptos"/>
              </a:rPr>
              <a:t>Playwright Test  |  TypeScript  |  Automation Exercise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4251960"/>
            <a:ext cx="960120" cy="5486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4572000"/>
            <a:ext cx="6766560" cy="6858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Maintainable tests for validating critical shopping journeys.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6245352"/>
            <a:ext cx="868680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1">
                <a:solidFill>
                  <a:srgbClr val="AFBED2"/>
                </a:solidFill>
                <a:latin typeface="Aptos"/>
              </a:rPr>
              <a:t>SHORT PRESENTATION  |  DESIGN, DECISIONS AND 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510528"/>
            <a:ext cx="98755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PW-Capstone  |  Playwright + TypeScript  |  Automation Exercise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40D3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>
                <a:solidFill>
                  <a:srgbClr val="40D3D2"/>
                </a:solidFill>
                <a:latin typeface="Aptos"/>
              </a:rPr>
              <a:t>01  / 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A layered architecture with clear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PW-Capstone  |  Playwright + TypeScript  |  Automation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40D3D2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246120" cy="1234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1014984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73351"/>
            <a:ext cx="284378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2834639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tests/*.spec.ts
Describe scenarios and assertions.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3246120" cy="1234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054096"/>
            <a:ext cx="64008" cy="1014984"/>
          </a:xfrm>
          <a:prstGeom prst="rect">
            <a:avLst/>
          </a:prstGeom>
          <a:solidFill>
            <a:srgbClr val="59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108960"/>
            <a:ext cx="284378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9CD97"/>
                </a:solidFill>
                <a:latin typeface="Aptos"/>
              </a:rPr>
              <a:t>Data and utilities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566160"/>
            <a:ext cx="2834639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testdata/ + utils/
Reusable data and unique email generation.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2148840"/>
            <a:ext cx="3017520" cy="141732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2258568"/>
            <a:ext cx="64008" cy="119786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91456" y="2313432"/>
            <a:ext cx="261518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Fixtures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456" y="2770632"/>
            <a:ext cx="2606039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fixtures/FixtureBase.ts
Provides Page Objects tied to each test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508760"/>
            <a:ext cx="3154680" cy="1234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618488"/>
            <a:ext cx="64008" cy="101498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49056" y="1673351"/>
            <a:ext cx="27523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Page Objects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2130552"/>
            <a:ext cx="274320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pages/
Page locators and actions.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944368"/>
            <a:ext cx="3154680" cy="1234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3054096"/>
            <a:ext cx="64008" cy="1014984"/>
          </a:xfrm>
          <a:prstGeom prst="rect">
            <a:avLst/>
          </a:prstGeom>
          <a:solidFill>
            <a:srgbClr val="FF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49056" y="3108960"/>
            <a:ext cx="27523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FF7575"/>
                </a:solidFill>
                <a:latin typeface="Aptos"/>
              </a:rPr>
              <a:t>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3566160"/>
            <a:ext cx="2743200" cy="484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Automation Exercise
Real UI and API endpoints.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977639" y="2084831"/>
            <a:ext cx="594361" cy="457201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77639" y="3154680"/>
            <a:ext cx="594361" cy="393192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89520" y="2139696"/>
            <a:ext cx="640080" cy="402336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02368" y="2743200"/>
            <a:ext cx="0" cy="201168"/>
          </a:xfrm>
          <a:prstGeom prst="line">
            <a:avLst/>
          </a:prstGeom>
          <a:ln w="25400">
            <a:solidFill>
              <a:srgbClr val="AF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4709160"/>
            <a:ext cx="3749039" cy="105156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828800" y="4818888"/>
            <a:ext cx="64008" cy="832103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048256" y="4873752"/>
            <a:ext cx="3346703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Configuration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48256" y="5330952"/>
            <a:ext cx="3337559" cy="30175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playwright.config.ts  |  baseURL  |  Chromium / Firefox / WebKit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709160"/>
            <a:ext cx="3749039" cy="105156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4818888"/>
            <a:ext cx="64008" cy="832103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20256" y="4873752"/>
            <a:ext cx="3346703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6" y="5330952"/>
            <a:ext cx="3337559" cy="301751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HTML report  |  screenshots  |  videos  |  traces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>
                <a:solidFill>
                  <a:srgbClr val="40D3D2"/>
                </a:solidFill>
                <a:latin typeface="Aptos"/>
              </a:rPr>
              <a:t>02  / 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Decisions that support maintainability and reliable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PW-Capstone  |  Playwright + TypeScript  |  Automation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40D3D2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60020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138074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73351"/>
            <a:ext cx="48097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POM: behavior in one 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4800600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Tests express intent; Page Objects encapsulate interactions and selectors. UI changes can be handled without rewriting each scenario.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12080" cy="160020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18488"/>
            <a:ext cx="64008" cy="1380744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673351"/>
            <a:ext cx="48097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Fixtures: explicit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30552"/>
            <a:ext cx="4800600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Objects are created with each test's isolated page. Tests request only the helpers they need.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5212080" cy="160020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93008"/>
            <a:ext cx="64008" cy="1380744"/>
          </a:xfrm>
          <a:prstGeom prst="rect">
            <a:avLst/>
          </a:prstGeom>
          <a:solidFill>
            <a:srgbClr val="59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547872"/>
            <a:ext cx="48097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9CD97"/>
                </a:solidFill>
                <a:latin typeface="Aptos"/>
              </a:rPr>
              <a:t>Locators and synchronization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005072"/>
            <a:ext cx="4800600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Prefer roles and accessible labels, with web-first assertions. UI tests abort selected third-party ad requests; product search navigates directly to /products.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383280"/>
            <a:ext cx="5212080" cy="160020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493008"/>
            <a:ext cx="64008" cy="138074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3547872"/>
            <a:ext cx="480974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Isolation vs. external 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005072"/>
            <a:ext cx="4800600" cy="85039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Playwright isolates contexts; one worker reduces interference because some flows share an account whose cart persists on the site.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0515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Credentials are environment-based: EMAIL / PASSWORD / BASE_URL. Secrets are not committed to the repository.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>
                <a:solidFill>
                  <a:srgbClr val="40D3D2"/>
                </a:solidFill>
                <a:latin typeface="Aptos"/>
              </a:rPr>
              <a:t>03  / 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Coverage: customer journeys and account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PW-Capstone  |  Playwright + TypeScript  |  Automation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40D3D2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57800" cy="3520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3300984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73351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UI / E2E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4846320" cy="2770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- User registration
- Login and logout
- Search and cart: add / remove products
- Checkout and order confirmation
- Contact Us with test data
Chromium, Firefox, and WebKit projects are configured.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5257800" cy="352044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618488"/>
            <a:ext cx="64008" cy="330098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37376" y="1673351"/>
            <a:ext cx="48554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API /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130552"/>
            <a:ext cx="4846320" cy="277063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600" b="0">
                <a:solidFill>
                  <a:srgbClr val="F5F8FC"/>
                </a:solidFill>
                <a:latin typeface="Aptos"/>
              </a:rPr>
              <a:t>API 11  -&gt;  Create account
API 14  -&gt;  Look up user by email
API 12  -&gt;  Delete account
A unique email is generated. Deletion in finally helps avoid leftover test data if an assertion fails.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349240"/>
            <a:ext cx="1051560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400" b="0">
                <a:solidFill>
                  <a:srgbClr val="AFBED2"/>
                </a:solidFill>
                <a:latin typeface="Aptos"/>
              </a:rPr>
              <a:t>API 11 / 14 / 12 call the real service. Ad-request interception reduces UI noise; application API mocking is not implemented.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000" b="1">
                <a:solidFill>
                  <a:srgbClr val="40D3D2"/>
                </a:solidFill>
                <a:latin typeface="Aptos"/>
              </a:rPr>
              <a:t>04  /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303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Execution and diagnostics built into 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10528"/>
            <a:ext cx="9875520" cy="18288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900" b="0">
                <a:solidFill>
                  <a:srgbClr val="AFBED2"/>
                </a:solidFill>
                <a:latin typeface="Aptos"/>
              </a:rPr>
              <a:t>PW-Capstone  |  Playwright + TypeScript  |  Automation Exercise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50292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r"/>
            <a:r>
              <a:rPr sz="1000" b="1">
                <a:solidFill>
                  <a:srgbClr val="40D3D2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3429000" cy="141732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18488"/>
            <a:ext cx="64008" cy="1197864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1673351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130552"/>
            <a:ext cx="301752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npm test
Run by browser, in UI mode, or in debug mode.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508760"/>
            <a:ext cx="3429000" cy="141732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618488"/>
            <a:ext cx="64008" cy="119786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6" y="1673351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Reporter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130552"/>
            <a:ext cx="301752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Console output + HTML report in playwright-report/.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29000" cy="141732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618488"/>
            <a:ext cx="64008" cy="1197864"/>
          </a:xfrm>
          <a:prstGeom prst="rect">
            <a:avLst/>
          </a:prstGeom>
          <a:solidFill>
            <a:srgbClr val="59C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66176" y="1673351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9CD97"/>
                </a:solidFill>
                <a:latin typeface="Aptos"/>
              </a:rPr>
              <a:t>CI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6" y="2130552"/>
            <a:ext cx="3017520" cy="66751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GitHub Actions installs browsers and runs the suite.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3429000" cy="150876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447288"/>
            <a:ext cx="64008" cy="128930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3502152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FFBE5C"/>
                </a:solidFill>
                <a:latin typeface="Aptos"/>
              </a:rPr>
              <a:t>On failure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3959352"/>
            <a:ext cx="301752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A screenshot is captured for every test; video is retained on failure.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3337560"/>
            <a:ext cx="3429000" cy="150876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3447288"/>
            <a:ext cx="64008" cy="1289304"/>
          </a:xfrm>
          <a:prstGeom prst="rect">
            <a:avLst/>
          </a:prstGeom>
          <a:solidFill>
            <a:srgbClr val="40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08576" y="3502152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40D3D2"/>
                </a:solidFill>
                <a:latin typeface="Aptos"/>
              </a:rPr>
              <a:t>Traces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08576" y="3959352"/>
            <a:ext cx="301752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Trace on first retry; CI is configured for 2 retries.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337560"/>
            <a:ext cx="3429000" cy="1508760"/>
          </a:xfrm>
          <a:prstGeom prst="roundRect">
            <a:avLst/>
          </a:prstGeom>
          <a:solidFill>
            <a:srgbClr val="182740"/>
          </a:solidFill>
          <a:ln w="12700">
            <a:solidFill>
              <a:srgbClr val="1F31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447288"/>
            <a:ext cx="64008" cy="1289304"/>
          </a:xfrm>
          <a:prstGeom prst="rect">
            <a:avLst/>
          </a:prstGeom>
          <a:solidFill>
            <a:srgbClr val="5E9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66176" y="3502152"/>
            <a:ext cx="3026664" cy="384048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800" b="1">
                <a:solidFill>
                  <a:srgbClr val="5E97FF"/>
                </a:solidFill>
                <a:latin typeface="Aptos"/>
              </a:rPr>
              <a:t>Debugging tip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6" y="3959352"/>
            <a:ext cx="3017520" cy="758952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Open trace.zip with playwright show-trace.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515600" cy="36576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l"/>
            <a:r>
              <a:rPr sz="1300" b="0">
                <a:solidFill>
                  <a:srgbClr val="AFBED2"/>
                </a:solidFill>
                <a:latin typeface="Aptos"/>
              </a:rPr>
              <a:t>Review traces and artifacts when tests fail. Configuration alone does not prove cross-browser compatibility.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533</Words>
  <Application>Microsoft Office PowerPoint</Application>
  <PresentationFormat>Panorámica</PresentationFormat>
  <Paragraphs>64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Edward, Ormanza (CNTR) (ITN)</cp:lastModifiedBy>
  <cp:revision>3</cp:revision>
  <dcterms:created xsi:type="dcterms:W3CDTF">2013-01-27T09:14:16Z</dcterms:created>
  <dcterms:modified xsi:type="dcterms:W3CDTF">2026-10-28T22:28:08Z</dcterms:modified>
  <cp:category/>
</cp:coreProperties>
</file>